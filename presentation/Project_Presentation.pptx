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Georgia"/>
              </a:defRPr>
            </a:pPr>
            <a:r>
              <a:t>WanderVision</a:t>
            </a:r>
          </a:p>
          <a:p>
            <a:pPr>
              <a:spcBef>
                <a:spcPts val="1000"/>
              </a:spcBef>
              <a:defRPr sz="2800">
                <a:solidFill>
                  <a:srgbClr val="F3ECE0"/>
                </a:solidFill>
              </a:defRPr>
            </a:pPr>
            <a:r>
              <a:t>AI-Powered Travel Planning &amp; Itinerary Assistant</a:t>
            </a:r>
          </a:p>
          <a:p>
            <a:pPr>
              <a:spcBef>
                <a:spcPts val="1000"/>
              </a:spcBef>
              <a:defRPr sz="1800">
                <a:solidFill>
                  <a:srgbClr val="B4492A"/>
                </a:solidFill>
              </a:defRPr>
            </a:pPr>
            <a:r>
              <a:t>Hybrid RAG · Seven specialist agents · Suitability ML · LLM-as-judge · Feedback loop</a:t>
            </a:r>
          </a:p>
          <a:p>
            <a:pPr>
              <a:spcBef>
                <a:spcPts val="1000"/>
              </a:spcBef>
              <a:defRPr sz="1600">
                <a:solidFill>
                  <a:srgbClr val="D9CDB8"/>
                </a:solidFill>
              </a:defRPr>
            </a:pPr>
            <a:r>
              <a:t>Capstone Project 2 · Prodapt PU Bootcamp · &lt;Participant name&gt;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A2723"/>
                </a:solidFill>
              </a:defRPr>
            </a:pPr>
            <a:r>
              <a:t>• Travel platforms hold thousands of reviews, ratings and trip records, but agents search them by hand</a:t>
            </a:r>
          </a:p>
          <a:p>
            <a:pPr>
              <a:spcAft>
                <a:spcPts val="600"/>
              </a:spcAft>
              <a:defRPr sz="1900">
                <a:solidFill>
                  <a:srgbClr val="2A2723"/>
                </a:solidFill>
              </a:defRPr>
            </a:pPr>
            <a:r>
              <a:t>• Recurring questions take tens of minutes each:</a:t>
            </a:r>
          </a:p>
          <a:p>
            <a:pPr lvl="1">
              <a:spcAft>
                <a:spcPts val="600"/>
              </a:spcAft>
              <a:defRPr sz="1600">
                <a:solidFill>
                  <a:srgbClr val="6E675D"/>
                </a:solidFill>
              </a:defRPr>
            </a:pPr>
            <a:r>
              <a:t>– "A 5-day beach, sightseeing and food trip: what similar trips were rated highly?"</a:t>
            </a:r>
          </a:p>
          <a:p>
            <a:pPr lvl="1">
              <a:spcAft>
                <a:spcPts val="600"/>
              </a:spcAft>
              <a:defRPr sz="1600">
                <a:solidFill>
                  <a:srgbClr val="6E675D"/>
                </a:solidFill>
              </a:defRPr>
            </a:pPr>
            <a:r>
              <a:t>– "Travelers like these are choosing between two destinations: which did similar travelers rate better?"</a:t>
            </a:r>
          </a:p>
          <a:p>
            <a:pPr lvl="1">
              <a:spcAft>
                <a:spcPts val="600"/>
              </a:spcAft>
              <a:defRPr sz="1600">
                <a:solidFill>
                  <a:srgbClr val="6E675D"/>
                </a:solidFill>
              </a:defRPr>
            </a:pPr>
            <a:r>
              <a:t>– "Limited budget, but they want highly rated activities: what should we recommend?"</a:t>
            </a:r>
          </a:p>
          <a:p>
            <a:pPr>
              <a:spcAft>
                <a:spcPts val="600"/>
              </a:spcAft>
              <a:defRPr sz="1900">
                <a:solidFill>
                  <a:srgbClr val="2A2723"/>
                </a:solidFill>
              </a:defRPr>
            </a:pPr>
            <a:r>
              <a:t>• Answers vary between agents, are rarely backed by evidence, and ignore budget and season feasibility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Business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2200" b="1">
                <a:solidFill>
                  <a:srgbClr val="24544F"/>
                </a:solidFill>
              </a:defRPr>
            </a:pPr>
            <a:r>
              <a:t>Speed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Seconds, not tens of minutes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per enquiry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64592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2200" b="1">
                <a:solidFill>
                  <a:srgbClr val="24544F"/>
                </a:solidFill>
              </a:defRPr>
            </a:pPr>
            <a:r>
              <a:t>Trust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Every recommendation cites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real historical 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1645920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2200" b="1">
                <a:solidFill>
                  <a:srgbClr val="24544F"/>
                </a:solidFill>
              </a:defRPr>
            </a:pPr>
            <a:r>
              <a:t>Feasibility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Budget, trip length and season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checked before proposing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2200" b="1">
                <a:solidFill>
                  <a:srgbClr val="24544F"/>
                </a:solidFill>
              </a:defRPr>
            </a:pPr>
            <a:r>
              <a:t>Personalization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Match on what similar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travelers loved, not averages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977639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2200" b="1">
                <a:solidFill>
                  <a:srgbClr val="24544F"/>
                </a:solidFill>
              </a:defRPr>
            </a:pPr>
            <a:r>
              <a:t>Safety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Injection, PII and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unsafe-request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3977639"/>
            <a:ext cx="3474720" cy="20574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2200" b="1">
                <a:solidFill>
                  <a:srgbClr val="24544F"/>
                </a:solidFill>
              </a:defRPr>
            </a:pPr>
            <a:r>
              <a:t>Improvement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Feedback re-ranks results and</a:t>
            </a:r>
          </a:p>
          <a:p>
            <a:pPr>
              <a:defRPr sz="1900">
                <a:solidFill>
                  <a:srgbClr val="2A2723"/>
                </a:solidFill>
              </a:defRPr>
            </a:pPr>
            <a:r>
              <a:t>grows the knowledge 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E675D"/>
                </a:solidFill>
              </a:defRPr>
            </a:pPr>
            <a:r>
              <a:t>A microservice + UI that turns a natural-language enquiry into an evidence-backed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Traveler DNA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8-dimension preference profile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inferred from free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0128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Hybrid RAG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BM25 + embeddings, RRF fusion,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cross-encoder, metadata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Seven specialist agents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Guardrail → … → Critic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with a revision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169164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Suitability ML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P(rating ≥ 4), AUC 0.92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with factor explanations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Search past trips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Filter by destination, trip type,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rating and spending style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Travel twins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Nearest historical travelers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and their favourite places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Budget check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Cost by tier, flights, max days,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season and length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4023360"/>
            <a:ext cx="2697480" cy="21031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900" b="1">
                <a:solidFill>
                  <a:srgbClr val="24544F"/>
                </a:solidFill>
              </a:defRPr>
            </a:pPr>
            <a:r>
              <a:t>Feedback loop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Ranking boosts + guarded</a:t>
            </a:r>
          </a:p>
          <a:p>
            <a:pPr>
              <a:defRPr sz="1600">
                <a:solidFill>
                  <a:srgbClr val="2A2723"/>
                </a:solidFill>
              </a:defRPr>
            </a:pPr>
            <a:r>
              <a:t>new experiences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pic>
        <p:nvPicPr>
          <p:cNvPr id="5" name="Picture 4" descr="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862650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Data Flow: from UCI ratings to an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Dataset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UCI #485 (5,456 users)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UCI #484 (980 users)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category ratings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7712" y="182880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Preprocess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categories → 8-dim DNA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simulate trips + reviews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clean · dedupe · validate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84831" y="2880360"/>
            <a:ext cx="201168" cy="274320"/>
          </a:xfrm>
          <a:prstGeom prst="rightArrow">
            <a:avLst/>
          </a:prstGeom>
          <a:solidFill>
            <a:srgbClr val="B44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15383" y="182880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Chunk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1 review = 1 chunk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+ structured header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7,712 chunks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2503" y="2880360"/>
            <a:ext cx="201168" cy="274320"/>
          </a:xfrm>
          <a:prstGeom prst="rightArrow">
            <a:avLst/>
          </a:prstGeom>
          <a:solidFill>
            <a:srgbClr val="B44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3055" y="182880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Embed + Index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MiniLM 384-d → ChromaDB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BM25 keyword index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metadata for filters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0175" y="2880360"/>
            <a:ext cx="201168" cy="274320"/>
          </a:xfrm>
          <a:prstGeom prst="rightArrow">
            <a:avLst/>
          </a:prstGeom>
          <a:solidFill>
            <a:srgbClr val="B44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0727" y="182880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Retrieve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dense + BM25 → RRF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cross-encoder rerank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priority scoring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27848" y="2880360"/>
            <a:ext cx="201168" cy="274320"/>
          </a:xfrm>
          <a:prstGeom prst="rightArrow">
            <a:avLst/>
          </a:prstGeom>
          <a:solidFill>
            <a:srgbClr val="B44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399" y="1828800"/>
            <a:ext cx="1783080" cy="237744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Agents → API → UI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recommend · plan · judge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FastAPI endpoints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Streamlit UI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75519" y="2880360"/>
            <a:ext cx="201168" cy="274320"/>
          </a:xfrm>
          <a:prstGeom prst="rightArrow">
            <a:avLst/>
          </a:prstGeom>
          <a:solidFill>
            <a:srgbClr val="B44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A2723"/>
                </a:solidFill>
              </a:defRPr>
            </a:pPr>
            <a:r>
              <a:t>• The source data has real traveler preferences but no review text, destinations or dates, so trips are simulated from each traveler's real preference profile (seed 42, fully documented)</a:t>
            </a:r>
          </a:p>
          <a:p>
            <a:pPr>
              <a:spcAft>
                <a:spcPts val="600"/>
              </a:spcAft>
              <a:defRPr sz="1500">
                <a:solidFill>
                  <a:srgbClr val="2A2723"/>
                </a:solidFill>
              </a:defRPr>
            </a:pPr>
            <a:r>
              <a:t>• Rating and review text come from one satisfaction model, so text, stars and metadata agree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86800"/>
              </a:tblGrid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Claude Opus 5.5 (claude-opus-5-5): structured JSON outputs, refusal fallback, offline fallback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sentence-transformers all-MiniLM-L6-v2 (local, 384-d)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Reranker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cross-encoder ms-marco-MiniLM-L-6-v2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ChromaDB 1.0.20 (cosine HNSW + metadata filters) · BM25 (rank-bm25)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scikit-learn HistGradientBoosting (itinerary suitability)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Backend /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FastAPI + Pydantic + Uvicorn · Streamlit + Plotly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DeepEval (Claude as judge) · custom retrieval/guardrail suites · pytest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SQLite (feedback, request log) · CSV corpus · JSON catalog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E675D"/>
                </a:solidFill>
              </a:defRPr>
            </a:pPr>
            <a:r>
              <a:t>Blackboard state + addressed messages · every step timed and shown in the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1 Guardrail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injection · harmful · off-topic · PII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3664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4DCD3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2 Preference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Traveler DNA · trip type · budget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3 Retriever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hybrid search · filter relaxation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48656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4 Recommender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5-signal priority · activities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31152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5 Feasibility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downgrade tier · swap · shorten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4DCD3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6 Itinerary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day plan · review 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96144" y="1737360"/>
            <a:ext cx="1645920" cy="1600200"/>
          </a:xfrm>
          <a:prstGeom prst="roundRect">
            <a:avLst>
              <a:gd name="adj" fmla="val 8000"/>
            </a:avLst>
          </a:prstGeom>
          <a:solidFill>
            <a:srgbClr val="F4DCD3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500" b="1">
                <a:solidFill>
                  <a:srgbClr val="24544F"/>
                </a:solidFill>
              </a:defRPr>
            </a:pPr>
            <a:r>
              <a:t>7 Critic</a:t>
            </a:r>
          </a:p>
          <a:p>
            <a:pPr>
              <a:defRPr sz="1200">
                <a:solidFill>
                  <a:srgbClr val="2A2723"/>
                </a:solidFill>
              </a:defRPr>
            </a:pPr>
            <a:r>
              <a:t>LLM-as-judge · 5-point rubric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723"/>
                </a:solidFill>
              </a:defRPr>
            </a:pPr>
            <a:r>
              <a:t>• Pink cards use Claude (with a deterministic fallback); sand cards are deterministic code (facts, money, ranking)</a:t>
            </a:r>
          </a:p>
          <a:p>
            <a:pPr>
              <a:spcAft>
                <a:spcPts val="600"/>
              </a:spcAft>
              <a:defRPr sz="1600">
                <a:solidFill>
                  <a:srgbClr val="2A2723"/>
                </a:solidFill>
              </a:defRPr>
            </a:pPr>
            <a:r>
              <a:t>• Critic below 3.5/5 → structured feedback (e.g. must_cover: nature, tier: budget) → Feasibility → Itinerary → Critic again (max 1 revision)</a:t>
            </a:r>
          </a:p>
          <a:p>
            <a:pPr>
              <a:spcAft>
                <a:spcPts val="600"/>
              </a:spcAft>
              <a:defRPr sz="1600">
                <a:solidFill>
                  <a:srgbClr val="2A2723"/>
                </a:solidFill>
              </a:defRPr>
            </a:pPr>
            <a:r>
              <a:t>• The Critic's LLM scores are capped by hard checks: citation validity, budget status, day count, preference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E675D"/>
                </a:solidFill>
              </a:defRPr>
            </a:pPr>
            <a:r>
              <a:t>Live: uvicorn src.main:app · streamlit run frontend.py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Query: "A couple wants a 5-day trip focused on beaches, sightseeing and local food in December, budget $3000, flying from India"</a:t>
            </a:r>
          </a:p>
          <a:p>
            <a:pPr lvl="1">
              <a:spcAft>
                <a:spcPts val="600"/>
              </a:spcAft>
              <a:defRPr sz="1400">
                <a:solidFill>
                  <a:srgbClr val="6E675D"/>
                </a:solidFill>
              </a:defRPr>
            </a:pPr>
            <a:r>
              <a:t>– Segment: Mid couple, Foodie + Beach + Culture → top pick Bangkok, feasible, judge 4.8/5, 100% of activities cited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Walkthrough: Plan a trip tab (interest radar, itinerary with past-review popovers, cost breakdown, how-it-was-made trace)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Travel twins tab: a museums and history lover, with the closest past travelers and where they were happiest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Budget check tab: Reykjavik on $3,000 from South Asia → over budget, cost by tier, satisfaction drivers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Guardrails: "ignore previous instructions…" → blocked (injection); "smuggle gold…" → blocked (harmful)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Feedback: rate a recommendation → ranking boost updates live on the Insights tab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Evaluation Results (1/2): Retrieval &amp; end-to-end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pic>
        <p:nvPicPr>
          <p:cNvPr id="5" name="Picture 4" descr="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452382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325880"/>
            <a:ext cx="4754880" cy="448056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End-to-end with Claude (6 scenarios)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Claude judge: mean 3.6/5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Approved: 5 of 6 (revisions used: 3)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Citation coverage: 98%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Within budget: 6 of 6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Time per plan: about 95s (loaded laptop)</a:t>
            </a:r>
          </a:p>
          <a:p>
            <a:pPr>
              <a:defRPr sz="1400">
                <a:solidFill>
                  <a:srgbClr val="2A2723"/>
                </a:solidFill>
              </a:defRPr>
            </a:pP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Retrieval: hybrid beats either retriever alone;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the reranker lifts P@10 at +0.8s CPU</a:t>
            </a:r>
          </a:p>
          <a:p>
            <a:pPr>
              <a:defRPr sz="1400">
                <a:solidFill>
                  <a:srgbClr val="2A2723"/>
                </a:solidFill>
              </a:defRPr>
            </a:pP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(Rule-based regression suite: 8 scenarios, 4.7/5)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Evaluation Results (2/2): LLM quality, safety,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pic>
        <p:nvPicPr>
          <p:cNvPr id="5" name="Picture 4" descr="deep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452382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325880"/>
            <a:ext cx="4754880" cy="233172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700" b="1">
                <a:solidFill>
                  <a:srgbClr val="24544F"/>
                </a:solidFill>
              </a:defRPr>
            </a:pPr>
            <a:r>
              <a:t>Guardrails red-team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Attacks blocked: 100% (category acc. 100%)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Benign allowed: 100%</a:t>
            </a:r>
          </a:p>
          <a:p>
            <a:pPr>
              <a:defRPr sz="1400">
                <a:solidFill>
                  <a:srgbClr val="2A2723"/>
                </a:solidFill>
              </a:defRPr>
            </a:pPr>
            <a:r>
              <a:t>PII redacted in 2 benign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3794760"/>
            <a:ext cx="4754880" cy="2011680"/>
          </a:xfrm>
          <a:prstGeom prst="roundRect">
            <a:avLst>
              <a:gd name="adj" fmla="val 8000"/>
            </a:avLst>
          </a:prstGeom>
          <a:solidFill>
            <a:srgbClr val="F3ECE0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37160" rIns="137160"/>
          <a:lstStyle/>
          <a:p>
            <a:pPr>
              <a:defRPr sz="1600" b="1">
                <a:solidFill>
                  <a:srgbClr val="24544F"/>
                </a:solidFill>
              </a:defRPr>
            </a:pPr>
            <a:r>
              <a:t>Classifier &amp; suitability model</a:t>
            </a:r>
          </a:p>
          <a:p>
            <a:pPr>
              <a:defRPr sz="1300">
                <a:solidFill>
                  <a:srgbClr val="2A2723"/>
                </a:solidFill>
              </a:defRPr>
            </a:pPr>
            <a:r>
              <a:t>Preference classifier (lexicon): trip type 100%, top-dim recall 100%</a:t>
            </a:r>
          </a:p>
          <a:p>
            <a:pPr>
              <a:defRPr sz="1300">
                <a:solidFill>
                  <a:srgbClr val="2A2723"/>
                </a:solidFill>
              </a:defRPr>
            </a:pPr>
            <a:r>
              <a:t>Suitability GBT AUC 0.9179 (LogReg 0.9135)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Challenges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Dataset lacked the key fields → real preference vectors + transparent simulation, documented; real-CSV loader kept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ChromaDB segfault on Windows → bisected to a pyarrow 18 conflict; pinned versions in an isolated venv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Evaluation exposed ranking bias (one destination for 4/8 scenarios) → tier-aware feasibility and a lower unmentioned-preference prior → 7 different destinations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"budget $3000" parsed as budget *tier* → phrase-level patterns + regression test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LLM vs code: money, filters and citations stay deterministic; the LLM handles language and judgment, with an offline fallback for every LLM step</a:t>
            </a:r>
          </a:p>
          <a:p>
            <a:pPr>
              <a:spcAft>
                <a:spcPts val="600"/>
              </a:spcAft>
              <a:defRPr sz="1700">
                <a:solidFill>
                  <a:srgbClr val="2A2723"/>
                </a:solidFill>
              </a:defRPr>
            </a:pPr>
            <a:r>
              <a:t>• The LLM judge is far stricter than rule checks; its critique (pace for kids, double-counted costs) drove real fixes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45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Georgia"/>
              </a:defRPr>
            </a:pPr>
            <a:r>
              <a:t>Thank you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675D"/>
                </a:solidFill>
              </a:defRPr>
            </a:pPr>
            <a:r>
              <a:t>WanderVision · AI-Powered Travel Planning &amp; Itinerary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A2723"/>
                </a:solidFill>
              </a:defRPr>
            </a:pPr>
            <a:r>
              <a:t>• Code, docs and evaluation: README.md · design/ · docs/ · eval/results/</a:t>
            </a:r>
          </a:p>
          <a:p>
            <a:pPr>
              <a:spcAft>
                <a:spcPts val="600"/>
              </a:spcAft>
              <a:defRPr sz="2000">
                <a:solidFill>
                  <a:srgbClr val="2A2723"/>
                </a:solidFill>
              </a:defRPr>
            </a:pPr>
            <a:r>
              <a:t>• Run: python scripts/setup_all.py → uvicorn src.main:app → streamlit run frontend.py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